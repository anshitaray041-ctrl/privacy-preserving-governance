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A855F7"/>
                </a:solidFill>
              </a:defRPr>
            </a:pPr>
            <a:r>
              <a:t>🌌 StellarRise</a:t>
            </a:r>
          </a:p>
          <a:p>
            <a:pPr>
              <a:spcBef>
                <a:spcPts val="1200"/>
              </a:spcBef>
              <a:defRPr sz="2800" b="1">
                <a:solidFill>
                  <a:srgbClr val="FFFFFF"/>
                </a:solidFill>
              </a:defRPr>
            </a:pPr>
            <a:r>
              <a:t>Privacy-Preserving Governance on Midnight Network</a:t>
            </a:r>
          </a:p>
          <a:p>
            <a:pPr>
              <a:spcBef>
                <a:spcPts val="1800"/>
              </a:spcBef>
              <a:defRPr sz="1600">
                <a:solidFill>
                  <a:srgbClr val="38BDF8"/>
                </a:solidFill>
              </a:defRPr>
            </a:pPr>
            <a:r>
              <a:t>Live DApp: https://privacypreservingmidnightmoonlight.netlify.app | RiseIn Moonshots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Problem: Public DAO Voting is Broken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846320" cy="4114800"/>
          </a:xfrm>
          <a:prstGeom prst="roundRect">
            <a:avLst/>
          </a:prstGeom>
          <a:solidFill>
            <a:srgbClr val="1A1025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B7185"/>
                </a:solidFill>
              </a:defRPr>
            </a:pPr>
            <a:r>
              <a:t>❌ Public Blockchain Vulnerabilities</a:t>
            </a:r>
          </a:p>
          <a:p>
            <a:pPr>
              <a:spcBef>
                <a:spcPts val="1200"/>
              </a:spcBef>
              <a:defRPr sz="1400">
                <a:solidFill>
                  <a:srgbClr val="E2E8F0"/>
                </a:solidFill>
              </a:defRPr>
            </a:pPr>
            <a:r>
              <a:t>• Whale &amp; Voter Coercion: Public addresses invite bribery and doxxing.</a:t>
            </a:r>
          </a:p>
          <a:p>
            <a:pPr>
              <a:spcBef>
                <a:spcPts val="1200"/>
              </a:spcBef>
              <a:defRPr sz="1400">
                <a:solidFill>
                  <a:srgbClr val="E2E8F0"/>
                </a:solidFill>
              </a:defRPr>
            </a:pPr>
            <a:r>
              <a:t>• Herd Mentality: Early visible votes destroy authentic consensus.</a:t>
            </a:r>
          </a:p>
          <a:p>
            <a:pPr>
              <a:spcBef>
                <a:spcPts val="1200"/>
              </a:spcBef>
              <a:defRPr sz="1400">
                <a:solidFill>
                  <a:srgbClr val="E2E8F0"/>
                </a:solidFill>
              </a:defRPr>
            </a:pPr>
            <a:r>
              <a:t>• Last-Block MEV: Front-running and swing voting in final blocks.</a:t>
            </a:r>
          </a:p>
          <a:p>
            <a:pPr>
              <a:spcBef>
                <a:spcPts val="1200"/>
              </a:spcBef>
              <a:defRPr sz="1400">
                <a:solidFill>
                  <a:srgbClr val="E2E8F0"/>
                </a:solidFill>
              </a:defRPr>
            </a:pPr>
            <a:r>
              <a:t>• Off-chain centralization: Snapshot lacks on-chain cryptographic settlement.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011680"/>
            <a:ext cx="4846320" cy="4114800"/>
          </a:xfrm>
          <a:prstGeom prst="roundRect">
            <a:avLst/>
          </a:prstGeom>
          <a:solidFill>
            <a:srgbClr val="101E2D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✅ The StellarRise ZK Solution</a:t>
            </a:r>
          </a:p>
          <a:p>
            <a:pPr>
              <a:spcBef>
                <a:spcPts val="1200"/>
              </a:spcBef>
              <a:defRPr sz="1400">
                <a:solidFill>
                  <a:srgbClr val="E2E8F0"/>
                </a:solidFill>
              </a:defRPr>
            </a:pPr>
            <a:r>
              <a:t>• Shielded Commitments: Voter secrets remain in local enclave.</a:t>
            </a:r>
          </a:p>
          <a:p>
            <a:pPr>
              <a:spcBef>
                <a:spcPts val="1200"/>
              </a:spcBef>
              <a:defRPr sz="1400">
                <a:solidFill>
                  <a:srgbClr val="E2E8F0"/>
                </a:solidFill>
              </a:defRPr>
            </a:pPr>
            <a:r>
              <a:t>• Client-Side PLONK ZK Prover: Generates zero-knowledge proofs locally.</a:t>
            </a:r>
          </a:p>
          <a:p>
            <a:pPr>
              <a:spcBef>
                <a:spcPts val="1200"/>
              </a:spcBef>
              <a:defRPr sz="1400">
                <a:solidFill>
                  <a:srgbClr val="E2E8F0"/>
                </a:solidFill>
              </a:defRPr>
            </a:pPr>
            <a:r>
              <a:t>• Single-Use Nullifiers: Mathematically prevents double-voting.</a:t>
            </a:r>
          </a:p>
          <a:p>
            <a:pPr>
              <a:spcBef>
                <a:spcPts val="1200"/>
              </a:spcBef>
              <a:defRPr sz="1400">
                <a:solidFill>
                  <a:srgbClr val="E2E8F0"/>
                </a:solidFill>
              </a:defRPr>
            </a:pPr>
            <a:r>
              <a:t>• Verifiable Public Tallies: Midnight ledger settles outcomes transparently.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Midnight Compact Architecture &amp; Multi-Wallet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3291840" cy="4114800"/>
          </a:xfrm>
          <a:prstGeom prst="roundRect">
            <a:avLst/>
          </a:prstGeom>
          <a:solidFill>
            <a:srgbClr val="0F1426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A855F7"/>
                </a:solidFill>
              </a:defRPr>
            </a:pPr>
            <a:r>
              <a:t>🌙 Midnight Lace Wallet</a:t>
            </a:r>
          </a:p>
          <a:p>
            <a:pPr>
              <a:spcBef>
                <a:spcPts val="1600"/>
              </a:spcBef>
              <a:defRPr sz="1400">
                <a:solidFill>
                  <a:srgbClr val="CBD5E1"/>
                </a:solidFill>
              </a:defRPr>
            </a:pPr>
            <a:r>
              <a:t>Native DApp Connector API integration for Preprod Testnet ZK circuit proving.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011680"/>
            <a:ext cx="3291840" cy="4114800"/>
          </a:xfrm>
          <a:prstGeom prst="roundRect">
            <a:avLst/>
          </a:prstGeom>
          <a:solidFill>
            <a:srgbClr val="0F1426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🚀 Stellar Freighter</a:t>
            </a:r>
          </a:p>
          <a:p>
            <a:pPr>
              <a:spcBef>
                <a:spcPts val="1600"/>
              </a:spcBef>
              <a:defRPr sz="1400">
                <a:solidFill>
                  <a:srgbClr val="CBD5E1"/>
                </a:solidFill>
              </a:defRPr>
            </a:pPr>
            <a:r>
              <a:t>Real @stellar/freighter-api v6.0.1 extension bridge for cross-chain governance.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011680"/>
            <a:ext cx="3291840" cy="4114800"/>
          </a:xfrm>
          <a:prstGeom prst="roundRect">
            <a:avLst/>
          </a:prstGeom>
          <a:solidFill>
            <a:srgbClr val="0F1426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4D399"/>
                </a:solidFill>
              </a:defRPr>
            </a:pPr>
            <a:r>
              <a:t>🧪 Instant Demo Sandbox</a:t>
            </a:r>
          </a:p>
          <a:p>
            <a:pPr>
              <a:spcBef>
                <a:spcPts val="1600"/>
              </a:spcBef>
              <a:defRPr sz="1400">
                <a:solidFill>
                  <a:srgbClr val="CBD5E1"/>
                </a:solidFill>
              </a:defRPr>
            </a:pPr>
            <a:r>
              <a:t>In-browser client witness provider for instant zero-setup judge evaluation.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Verified Deliverables &amp; Moonshots Submission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937760" cy="1828800"/>
          </a:xfrm>
          <a:prstGeom prst="roundRect">
            <a:avLst/>
          </a:prstGeom>
          <a:solidFill>
            <a:srgbClr val="0F1426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34D399"/>
                </a:solidFill>
              </a:defRPr>
            </a:pPr>
            <a:r>
              <a:t>12/12 Tests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</a:defRPr>
            </a:pPr>
            <a:r>
              <a:t>100% Passing Vitest Suite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011680"/>
            <a:ext cx="4937760" cy="1828800"/>
          </a:xfrm>
          <a:prstGeom prst="roundRect">
            <a:avLst/>
          </a:prstGeom>
          <a:solidFill>
            <a:srgbClr val="0F1426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38BDF8"/>
                </a:solidFill>
              </a:defRPr>
            </a:pPr>
            <a:r>
              <a:t>0 Vulnerabilities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</a:defRPr>
            </a:pPr>
            <a:r>
              <a:t>Formal ZK Security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4937760" cy="1828800"/>
          </a:xfrm>
          <a:prstGeom prst="roundRect">
            <a:avLst/>
          </a:prstGeom>
          <a:solidFill>
            <a:srgbClr val="0F1426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4 ZK Circuits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</a:defRPr>
            </a:pPr>
            <a:r>
              <a:t>Compact v0.19 Verified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114800"/>
            <a:ext cx="4937760" cy="1828800"/>
          </a:xfrm>
          <a:prstGeom prst="roundRect">
            <a:avLst/>
          </a:prstGeom>
          <a:solidFill>
            <a:srgbClr val="0F1426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BBF24"/>
                </a:solidFill>
              </a:defRPr>
            </a:pPr>
            <a:r>
              <a:t>Levels 1 to 6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</a:defRPr>
            </a:pPr>
            <a:r>
              <a:t>100% Moonshots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